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Oleksandr | 0:35 | Introduce the question and two linked workstreams: generating usable examples and testing them on real news.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Oleksandr | 0:55 | Explain replacement rather than adding more data. State that the outcome is performance on original real articles.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Oleksandr | 0:55 | Describe class balance and why keeping validation/test real makes this a test of transfer to actual AG News.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GrAndezit | 1:10 | Explain prompt contrast and screened replacements. State that automatic filters are quality proxies, not factual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GrAndezit | 1:10 | Explain distinct-2 and semantic diversity briefly. Mention the small review sample and repeated headline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Oleksandr | 0:55 | Distinguish this one-epoch comparison from the separate five-epoch hyperparameter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Oleksandr | 1:15 | Read the graph: tiny lead at 25%, decline after 50%, sharp drop at 100%. Emphasize one seed and exploratory test-set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Oleksandr | 0:55 | Point to class recall, not only overall accuracy. Explain mixed business/technology vocabulary as a possible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Oleksandr | 1:05 | Clarify basic-enriched is 400 basic plus 3,600 advanced, not 100% basic. Do not claim filtering is harmful from these small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Oleksandr | 1:05 | Give one category-boundary example: a technology company story can be Business or Sci/Tech depending on its main 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GrAndezit | 1:00 | Summarize the evidence without claiming a robust 25% optimum or a proven cause for every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| 0:40 | Each presenter closes with their contribution. Refer to the report for full citations and caveats. Total planned speaking time: 11 min 40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1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32E46"/>
                </a:solidFill>
                <a:latin typeface="Aptos"/>
              </a:defRPr>
            </a:pPr>
            <a:r>
              <a:t>Synthetic news for AG News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16F9E"/>
                </a:solidFill>
                <a:latin typeface="Aptos"/>
              </a:defRPr>
            </a:pPr>
            <a:r>
              <a:t>What happens when real training articles are replaced with generated ones?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Oleksandr Buhrii &amp; GrAndezit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07208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Natural Language Processing final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28232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Synthetic Data NLP | AG News • 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1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32E46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16F9E"/>
                </a:solidFill>
                <a:latin typeface="Aptos"/>
              </a:defRPr>
            </a:pPr>
            <a:r>
              <a:t>Can fictional Qwen3 articles improve a real-news classifier?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Five synthetic shares: 0%, 25%, 50%, 75%, 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07208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Fixed 8,000 training items and four balanced 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31336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DistilBERT evaluated on unchanged real AG News test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428232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Synthetic Data NLP | AG News • Final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1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32E46"/>
                </a:solidFill>
                <a:latin typeface="Aptos"/>
              </a:defRPr>
            </a:pPr>
            <a:r>
              <a:t>Dataset and split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16F9E"/>
                </a:solidFill>
                <a:latin typeface="Aptos"/>
              </a:defRPr>
            </a:pPr>
            <a:r>
              <a:t>Real validation and test data stay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Train: 8,000 real items selected from AG News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07208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Validation: 2,000 real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31336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Test: original 7,600 items, 1,900 per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55464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Seed 42; duplicate and overlap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428232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Synthetic Data NLP | AG News • 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1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32E46"/>
                </a:solidFill>
                <a:latin typeface="Aptos"/>
              </a:defRPr>
            </a:pPr>
            <a:r>
              <a:t>Generate and screen synthetic news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16F9E"/>
                </a:solidFill>
                <a:latin typeface="Aptos"/>
              </a:defRPr>
            </a:pPr>
            <a:r>
              <a:t>Qwen3-4B-Instruct through local Ollama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Basic: category + headline/summary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07208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Advanced: concrete scenario, actors, and 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31336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Filter: length, duplicates, label screening, realism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55464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8,000 generated → 7,427 filtered → 8,000 balanced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428232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Synthetic Data NLP | AG News • 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1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32E46"/>
                </a:solidFill>
                <a:latin typeface="Aptos"/>
              </a:defRPr>
            </a:pPr>
            <a:r>
              <a:t>Data quality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16F9E"/>
                </a:solidFill>
                <a:latin typeface="Aptos"/>
              </a:defRPr>
            </a:pPr>
            <a:r>
              <a:t>More varied prompts did not guarantee realism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Advanced distinct-2 exceeded basic in all four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07208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Matched synthetic diversity lower than real: 0.740 vs 0.871 distinct-2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31336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208 final articles reuse one of 68 headlines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55464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40-item pilot realism: advanced 2.9/5; basic 3.0/5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428232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Synthetic Data NLP | AG News • 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1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32E46"/>
                </a:solidFill>
                <a:latin typeface="Aptos"/>
              </a:defRPr>
            </a:pPr>
            <a:r>
              <a:t>Controlled model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16F9E"/>
                </a:solidFill>
                <a:latin typeface="Aptos"/>
              </a:defRPr>
            </a:pPr>
            <a:r>
              <a:t>Same architecture and optimization across mixtures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DistilBERT, 4-label classification 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07208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1 epoch • batch 16 • learning rate 5e-5 • weight decay 0.01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31336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Validation every 100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55464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One fixed original AG News test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428232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Synthetic Data NLP | AG News • 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1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32E46"/>
                </a:solidFill>
                <a:latin typeface="Aptos"/>
              </a:defRPr>
            </a:pPr>
            <a:r>
              <a:t>Main experiment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16F9E"/>
                </a:solidFill>
                <a:latin typeface="Aptos"/>
              </a:defRPr>
            </a:pPr>
            <a:r>
              <a:t>25% has the highest observed test macro F1</a:t>
            </a:r>
          </a:p>
        </p:txBody>
      </p:sp>
      <p:pic>
        <p:nvPicPr>
          <p:cNvPr id="5" name="Picture 4" descr="performance_vs_synth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53260"/>
            <a:ext cx="7040880" cy="391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1783080"/>
            <a:ext cx="3840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32E46"/>
                </a:solidFill>
                <a:latin typeface="Aptos"/>
              </a:defRPr>
            </a:pPr>
            <a:r>
              <a:t>• 0%: 0.9073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734056"/>
            <a:ext cx="3840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32E46"/>
                </a:solidFill>
                <a:latin typeface="Aptos"/>
              </a:defRPr>
            </a:pPr>
            <a:r>
              <a:t>• 25%: 0.9085 (+0.0013)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685032"/>
            <a:ext cx="3840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32E46"/>
                </a:solidFill>
                <a:latin typeface="Aptos"/>
              </a:defRPr>
            </a:pPr>
            <a:r>
              <a:t>• 100%: 0.7641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428232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Synthetic Data NLP | AG News • 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1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32E46"/>
                </a:solidFill>
                <a:latin typeface="Aptos"/>
              </a:defRPr>
            </a:pPr>
            <a:r>
              <a:t>Which class suffers?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16F9E"/>
                </a:solidFill>
                <a:latin typeface="Aptos"/>
              </a:defRPr>
            </a:pPr>
            <a:r>
              <a:t>Sci/Tech collapses at 100% synthetic</a:t>
            </a:r>
          </a:p>
        </p:txBody>
      </p:sp>
      <p:pic>
        <p:nvPicPr>
          <p:cNvPr id="5" name="Picture 4" descr="per_class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28812"/>
            <a:ext cx="7040880" cy="3960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1783080"/>
            <a:ext cx="3840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32E46"/>
                </a:solidFill>
                <a:latin typeface="Aptos"/>
              </a:defRPr>
            </a:pPr>
            <a:r>
              <a:t>• Sci/Tech recall: 0.8916 at 0% → 0.3932 at 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734056"/>
            <a:ext cx="3840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32E46"/>
                </a:solidFill>
                <a:latin typeface="Aptos"/>
              </a:defRPr>
            </a:pPr>
            <a:r>
              <a:t>• Business–Sci/Tech confusion persists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685032"/>
            <a:ext cx="3840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32E46"/>
                </a:solidFill>
                <a:latin typeface="Aptos"/>
              </a:defRPr>
            </a:pPr>
            <a:r>
              <a:t>• Aggregate macro F1 reveals this category imbalance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428232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Synthetic Data NLP | AG News • 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1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32E46"/>
                </a:solidFill>
                <a:latin typeface="Aptos"/>
              </a:defRPr>
            </a:pPr>
            <a:r>
              <a:t>50%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16F9E"/>
                </a:solidFill>
                <a:latin typeface="Aptos"/>
              </a:defRPr>
            </a:pPr>
            <a:r>
              <a:t>Three seeds per prompting/filtering condition</a:t>
            </a:r>
          </a:p>
        </p:txBody>
      </p:sp>
      <p:pic>
        <p:nvPicPr>
          <p:cNvPr id="5" name="Picture 4" descr="abl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404872"/>
            <a:ext cx="7040880" cy="3008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1783080"/>
            <a:ext cx="3840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32E46"/>
                </a:solidFill>
                <a:latin typeface="Aptos"/>
              </a:defRPr>
            </a:pPr>
            <a:r>
              <a:t>• 4,000 real + 4,000 synthetic in every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734056"/>
            <a:ext cx="3840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32E46"/>
                </a:solidFill>
                <a:latin typeface="Aptos"/>
              </a:defRPr>
            </a:pPr>
            <a:r>
              <a:t>• Advanced-only unfiltered mean macro F1: 0.9001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685032"/>
            <a:ext cx="3840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32E46"/>
                </a:solidFill>
                <a:latin typeface="Aptos"/>
              </a:defRPr>
            </a:pPr>
            <a:r>
              <a:t>• Filtered advanced-only: 0.8987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636008"/>
            <a:ext cx="3840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32E46"/>
                </a:solidFill>
                <a:latin typeface="Aptos"/>
              </a:defRPr>
            </a:pPr>
            <a:r>
              <a:t>• Differences small versus seed variation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28232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Synthetic Data NLP | AG News • Final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1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32E46"/>
                </a:solidFill>
                <a:latin typeface="Aptos"/>
              </a:defRPr>
            </a:pPr>
            <a:r>
              <a:t>Paired 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16F9E"/>
                </a:solidFill>
                <a:latin typeface="Aptos"/>
              </a:defRPr>
            </a:pPr>
            <a:r>
              <a:t>Synthetic data both fixes and creates errors</a:t>
            </a:r>
          </a:p>
        </p:txBody>
      </p:sp>
      <p:pic>
        <p:nvPicPr>
          <p:cNvPr id="5" name="Picture 4" descr="confus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903220"/>
            <a:ext cx="704088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1783080"/>
            <a:ext cx="3840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32E46"/>
                </a:solidFill>
                <a:latin typeface="Aptos"/>
              </a:defRPr>
            </a:pPr>
            <a:r>
              <a:t>• 144 baseline errors fixed by the 25%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734056"/>
            <a:ext cx="3840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32E46"/>
                </a:solidFill>
                <a:latin typeface="Aptos"/>
              </a:defRPr>
            </a:pPr>
            <a:r>
              <a:t>• 135 new errors introduced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685032"/>
            <a:ext cx="3840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32E46"/>
                </a:solidFill>
                <a:latin typeface="Aptos"/>
              </a:defRPr>
            </a:pPr>
            <a:r>
              <a:t>• 559 articles wrong in both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636008"/>
            <a:ext cx="3840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32E46"/>
                </a:solidFill>
                <a:latin typeface="Aptos"/>
              </a:defRPr>
            </a:pPr>
            <a:r>
              <a:t>• Net gain: 9 correct out of 7,600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28232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Synthetic Data NLP | AG News • Final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1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32E46"/>
                </a:solidFill>
                <a:latin typeface="Aptos"/>
              </a:defRPr>
            </a:pPr>
            <a:r>
              <a:t>Discussion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16F9E"/>
                </a:solidFill>
                <a:latin typeface="Aptos"/>
              </a:defRPr>
            </a:pPr>
            <a:r>
              <a:t>Modest augmentation can match real-only; full replacement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25% lead is small and from one 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07208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Generated text is less diverse and has template artifacts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31336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Next: validation-based selection, more seeds, untouched final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55464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Quality screening needs broader human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428232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Synthetic Data NLP | AG News • 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1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32E46"/>
                </a:solidFill>
                <a:latin typeface="Aptos"/>
              </a:defRPr>
            </a:pPr>
            <a:r>
              <a:t>Contributions and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16F9E"/>
                </a:solidFill>
                <a:latin typeface="Aptos"/>
              </a:defRPr>
            </a:pPr>
            <a:r>
              <a:t>Two complementary workstreams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Oleksandr: real splits, DistilBERT training, ablations, error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07208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GrAndezit: prompts, Qwen generation, filtering, quality/diversity audits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31336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Sources: AG News [1–2], DistilBERT [3], Qwen3 [4–5]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55464"/>
            <a:ext cx="10789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32E46"/>
                </a:solidFill>
                <a:latin typeface="Aptos"/>
              </a:defRPr>
            </a:pPr>
            <a:r>
              <a:t>• Reproduction: README, scripts, saved CSVs and experiment 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428232"/>
            <a:ext cx="10332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Synthetic Data NLP | AG News • 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6F9E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